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8" r:id="rId11"/>
    <p:sldId id="269" r:id="rId12"/>
    <p:sldId id="267" r:id="rId13"/>
    <p:sldId id="266" r:id="rId14"/>
    <p:sldId id="270" r:id="rId15"/>
    <p:sldId id="271" r:id="rId16"/>
    <p:sldId id="276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D312A-7AAC-43D1-A099-841620F07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E0D42-5008-46EF-BF3E-C60251824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E7DCC-015D-4A02-B194-3B6A95FBC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158C-5F7C-48EA-874D-5B82A47E43C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9600E-DB4E-49C8-A32C-A5536599F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ED6CE-44FE-4A79-891A-951A49DBA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44AD-D8A3-4DF0-89FD-6B2267C09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888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C0BE2-A105-4633-80A8-9FEDE9A5B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EC17A-5DD0-47D0-8CE3-49B208115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D2DC1-22CB-4D56-8DD7-4CCDBC16E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158C-5F7C-48EA-874D-5B82A47E43C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C341A-3143-4DA2-9019-199334D7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0BECF-0719-4AB8-9987-54A3255A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44AD-D8A3-4DF0-89FD-6B2267C09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419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DB68C-78F0-42A3-B110-33398704B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6C50D-6509-4C5A-9060-C4209F016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8479D-9640-45D1-B780-B867694D1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158C-5F7C-48EA-874D-5B82A47E43C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40051-CAEF-4AC3-B360-7A12AFB52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B1A5C-F73E-4B70-B355-FE5946530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44AD-D8A3-4DF0-89FD-6B2267C09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956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51B12-2660-460E-944E-B87AFD1D2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DBBBE-71A1-49F8-98F9-962F61CBC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0DB66-2CCC-4096-A0FB-1E61D5E17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79E5F-AEA9-4BEA-8824-ADFF6564F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158C-5F7C-48EA-874D-5B82A47E43C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E28B2-FF31-488C-A500-43C3BDF6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36B38-89AA-48B8-BCDC-74C7BB320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44AD-D8A3-4DF0-89FD-6B2267C09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807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17248-86A1-4B71-AE66-7CD2E225E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ACA25-C0A7-4FCF-AAD8-6DEDAFFA2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7FBB37-4F7C-47FE-9708-B9D836C3C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FDFD00-0DA9-4F9E-8B53-164FC167B4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2ACE4-5014-4B43-B8F5-BD2F39AEA4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218BC0-DB21-4414-815E-EDF5FC90A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158C-5F7C-48EA-874D-5B82A47E43C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C00C90-F4E3-4B91-80DF-8D01D05A5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46B078-DD80-4320-8DB8-9AE3867CE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44AD-D8A3-4DF0-89FD-6B2267C09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748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C079-69FE-4340-AA3E-2F7527E4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885ED1-F5F4-491A-8E08-7718F8005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158C-5F7C-48EA-874D-5B82A47E43C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D8C98-ACB7-4EB3-A656-E86EFCD7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FBC7D6-51EB-4601-B9A8-62FA1A615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44AD-D8A3-4DF0-89FD-6B2267C09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270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9E40EC-F2EE-4268-9FC6-1AE7AFB1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158C-5F7C-48EA-874D-5B82A47E43C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8D5D4B-735A-4163-9F9B-825DD499F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193D8-2254-444F-9D29-5BC416C7E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44AD-D8A3-4DF0-89FD-6B2267C09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837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4FC0D-525D-4C72-8640-551785817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188BD-1DDB-4BE0-BD34-9EB73DEBC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4C5D6-1734-4871-880E-02DE225A2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79380-19BD-4605-BF32-8DE3E0674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158C-5F7C-48EA-874D-5B82A47E43C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325F9-FFFF-4E8B-9703-07A36E3CE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490CB-DA99-4929-ACDF-3C811AED9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44AD-D8A3-4DF0-89FD-6B2267C09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4018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56226-55F3-4267-9304-43A3C24E5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7496E6-EB19-4CC5-86BA-F73C2F13F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4488B-9D44-4BCC-BBF7-C1EB8A65D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541A7-A040-4B47-92ED-7500AEC84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158C-5F7C-48EA-874D-5B82A47E43C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85D57-38F1-48CD-BE8C-8D6AD6A7E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0818B-1EDC-48A1-A543-EEE40E4B2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44AD-D8A3-4DF0-89FD-6B2267C09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2333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6763B-EB95-43AE-8967-80CCB3FB7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4B5450-87F8-4343-ADC9-AD53D87EC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01A7C-9259-4ADF-8219-84FB6876D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158C-5F7C-48EA-874D-5B82A47E43C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FA488-0238-4838-8762-AEFEBFE0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C95CA-0EF1-4462-9439-84A58A63C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44AD-D8A3-4DF0-89FD-6B2267C09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685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28449D-2C1A-405D-8655-24043FDF42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3FA88B-38D9-45B9-9309-2EFC6EA73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BC793-475B-4DD1-A47F-687FA039C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158C-5F7C-48EA-874D-5B82A47E43C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17D54-82DC-4313-BDCD-6AB64BECD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E855-8856-43E8-8305-F2ACBED69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44AD-D8A3-4DF0-89FD-6B2267C09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742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B55639-BB97-444F-A322-50DD515EE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1A749-D02D-4B4B-9AE0-8A3215579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CAADE-0158-4EEF-BD31-7B3192A48A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6158C-5F7C-48EA-874D-5B82A47E43C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D715F-7BED-49A7-A7CD-946A992655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76AA3-A7FB-4DEA-9D0A-4062BE7BCB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B44AD-D8A3-4DF0-89FD-6B2267C09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7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AAC5-6287-4163-A8F5-A8375FC3A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187"/>
            <a:ext cx="9144000" cy="2387600"/>
          </a:xfrm>
        </p:spPr>
        <p:txBody>
          <a:bodyPr>
            <a:normAutofit/>
          </a:bodyPr>
          <a:lstStyle/>
          <a:p>
            <a:r>
              <a:rPr lang="en-GB" sz="7200" dirty="0"/>
              <a:t>A3 2015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53A0EA-EA5C-4974-96EB-7AA656BEB1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Question 5</a:t>
            </a:r>
          </a:p>
        </p:txBody>
      </p:sp>
    </p:spTree>
    <p:extLst>
      <p:ext uri="{BB962C8B-B14F-4D97-AF65-F5344CB8AC3E}">
        <p14:creationId xmlns:p14="http://schemas.microsoft.com/office/powerpoint/2010/main" val="1059040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CC55DB93-FE8F-49AA-A827-0D9AB5E2D5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842" y="287150"/>
            <a:ext cx="8586316" cy="6283699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99BE711-11FA-494C-82B9-8488F9CE46EE}"/>
              </a:ext>
            </a:extLst>
          </p:cNvPr>
          <p:cNvSpPr txBox="1"/>
          <p:nvPr/>
        </p:nvSpPr>
        <p:spPr>
          <a:xfrm>
            <a:off x="173736" y="263404"/>
            <a:ext cx="1956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/>
              <a:t>A3 2015</a:t>
            </a:r>
          </a:p>
        </p:txBody>
      </p:sp>
    </p:spTree>
    <p:extLst>
      <p:ext uri="{BB962C8B-B14F-4D97-AF65-F5344CB8AC3E}">
        <p14:creationId xmlns:p14="http://schemas.microsoft.com/office/powerpoint/2010/main" val="2945981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A47DA-0E17-4097-9FFE-03475985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First part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8B784E-D22E-4CA0-AED5-4F0C1625B3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3658" y="1690688"/>
                <a:ext cx="1098468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Without detailed calculation draw the wavefunction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𝑖𝑛𝑓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0" dirty="0"/>
                  <a:t> for the third lowest energy eigenstate of an infinite square well along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b="0" dirty="0"/>
                  <a:t> axis.       [3]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8B784E-D22E-4CA0-AED5-4F0C1625B3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658" y="1690688"/>
                <a:ext cx="10984684" cy="4351338"/>
              </a:xfrm>
              <a:blipFill>
                <a:blip r:embed="rId2"/>
                <a:stretch>
                  <a:fillRect l="-1110" t="-19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3216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A47DA-0E17-4097-9FFE-03475985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First part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8B784E-D22E-4CA0-AED5-4F0C1625B3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3658" y="1690688"/>
                <a:ext cx="1098468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Without detailed calculation draw the wavefunction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𝑖𝑛𝑓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0" dirty="0"/>
                  <a:t> for the third lowest energy eigenstate of an infinite square well along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b="0" dirty="0"/>
                  <a:t> axis.       [3]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8B784E-D22E-4CA0-AED5-4F0C1625B3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658" y="1690688"/>
                <a:ext cx="10984684" cy="4351338"/>
              </a:xfrm>
              <a:blipFill>
                <a:blip r:embed="rId2"/>
                <a:stretch>
                  <a:fillRect l="-1110" t="-19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4FF8AE7-B371-4A2A-A583-73F08E43EAB4}"/>
              </a:ext>
            </a:extLst>
          </p:cNvPr>
          <p:cNvSpPr txBox="1"/>
          <p:nvPr/>
        </p:nvSpPr>
        <p:spPr>
          <a:xfrm>
            <a:off x="838200" y="2702248"/>
            <a:ext cx="105156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The wavefunction must obey the TISE. Given the potential goes to infinity outside the well, the wavefunction must go to 0 at the boundaries.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786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A47DA-0E17-4097-9FFE-03475985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First part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8B784E-D22E-4CA0-AED5-4F0C1625B3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3658" y="1690688"/>
                <a:ext cx="1098468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Without detailed calculation draw the wavefunction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𝑖𝑛𝑓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0" dirty="0"/>
                  <a:t> for the third lowest energy eigenstate of an infinite square well along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b="0" dirty="0"/>
                  <a:t> axis.       [3]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8B784E-D22E-4CA0-AED5-4F0C1625B3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658" y="1690688"/>
                <a:ext cx="10984684" cy="4351338"/>
              </a:xfrm>
              <a:blipFill>
                <a:blip r:embed="rId2"/>
                <a:stretch>
                  <a:fillRect l="-1110" t="-19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4FF8AE7-B371-4A2A-A583-73F08E43EAB4}"/>
              </a:ext>
            </a:extLst>
          </p:cNvPr>
          <p:cNvSpPr txBox="1"/>
          <p:nvPr/>
        </p:nvSpPr>
        <p:spPr>
          <a:xfrm>
            <a:off x="838200" y="2702248"/>
            <a:ext cx="105156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The wavefunction must obey the TISE. Given the potential goes to infinity outside the well, the wavefunction must go to 0 at the boundaries.</a:t>
            </a:r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EB2B52-0336-4C26-9EBD-D3AD6B8680B3}"/>
              </a:ext>
            </a:extLst>
          </p:cNvPr>
          <p:cNvSpPr txBox="1"/>
          <p:nvPr/>
        </p:nvSpPr>
        <p:spPr>
          <a:xfrm>
            <a:off x="838200" y="3390078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Due to the parity symmetry in the potential itself, we know the wavefunctions must also have odd or even parity symmetry.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D40AAC-699F-470F-B731-D5E7ECE9C575}"/>
                  </a:ext>
                </a:extLst>
              </p:cNvPr>
              <p:cNvSpPr txBox="1"/>
              <p:nvPr/>
            </p:nvSpPr>
            <p:spPr>
              <a:xfrm>
                <a:off x="838200" y="2702248"/>
                <a:ext cx="105156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b="0" dirty="0"/>
                  <a:t>As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→0,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→∞, ∴</m:t>
                    </m:r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→0.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D40AAC-699F-470F-B731-D5E7ECE9C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02248"/>
                <a:ext cx="10515600" cy="400110"/>
              </a:xfrm>
              <a:prstGeom prst="rect">
                <a:avLst/>
              </a:prstGeom>
              <a:blipFill>
                <a:blip r:embed="rId3"/>
                <a:stretch>
                  <a:fillRect l="-522" t="-7576" b="-257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3471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A47DA-0E17-4097-9FFE-03475985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First part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8B784E-D22E-4CA0-AED5-4F0C1625B3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3658" y="1690688"/>
                <a:ext cx="1098468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Without detailed calculation draw the wavefunction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𝑖𝑛𝑓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0" dirty="0"/>
                  <a:t> for the third lowest energy eigenstate of an infinite square well along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b="0" dirty="0"/>
                  <a:t> axis.       [3]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8B784E-D22E-4CA0-AED5-4F0C1625B3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658" y="1690688"/>
                <a:ext cx="10984684" cy="4351338"/>
              </a:xfrm>
              <a:blipFill>
                <a:blip r:embed="rId2"/>
                <a:stretch>
                  <a:fillRect l="-1110" t="-19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9ADCF73-09C2-4D75-ABEB-7BBF692F50A1}"/>
              </a:ext>
            </a:extLst>
          </p:cNvPr>
          <p:cNvSpPr txBox="1"/>
          <p:nvPr/>
        </p:nvSpPr>
        <p:spPr>
          <a:xfrm>
            <a:off x="838200" y="4099194"/>
            <a:ext cx="103527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We know that each state is labelled with an integer n, and that each one corresponds to the number of half-wavelengths that can fit in the well.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FF8AE7-B371-4A2A-A583-73F08E43EAB4}"/>
                  </a:ext>
                </a:extLst>
              </p:cNvPr>
              <p:cNvSpPr txBox="1"/>
              <p:nvPr/>
            </p:nvSpPr>
            <p:spPr>
              <a:xfrm>
                <a:off x="838200" y="2702248"/>
                <a:ext cx="105156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b="0" dirty="0"/>
                  <a:t>As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→0,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→∞, ∴</m:t>
                    </m:r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→0.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FF8AE7-B371-4A2A-A583-73F08E43E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02248"/>
                <a:ext cx="10515600" cy="400110"/>
              </a:xfrm>
              <a:prstGeom prst="rect">
                <a:avLst/>
              </a:prstGeom>
              <a:blipFill>
                <a:blip r:embed="rId4"/>
                <a:stretch>
                  <a:fillRect l="-522" t="-7576" b="-257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0EB2B52-0336-4C26-9EBD-D3AD6B8680B3}"/>
              </a:ext>
            </a:extLst>
          </p:cNvPr>
          <p:cNvSpPr txBox="1"/>
          <p:nvPr/>
        </p:nvSpPr>
        <p:spPr>
          <a:xfrm>
            <a:off x="838200" y="3390078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Due to the parity symmetry in the potential itself, we know the wavefunctions must also have odd or even parity symmetry.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DE3381-BF48-428C-A9C4-EE7BE581635E}"/>
              </a:ext>
            </a:extLst>
          </p:cNvPr>
          <p:cNvSpPr txBox="1"/>
          <p:nvPr/>
        </p:nvSpPr>
        <p:spPr>
          <a:xfrm>
            <a:off x="838200" y="3399573"/>
            <a:ext cx="1051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Odd or even symmetry with respect to the potential.</a:t>
            </a:r>
          </a:p>
        </p:txBody>
      </p:sp>
    </p:spTree>
    <p:extLst>
      <p:ext uri="{BB962C8B-B14F-4D97-AF65-F5344CB8AC3E}">
        <p14:creationId xmlns:p14="http://schemas.microsoft.com/office/powerpoint/2010/main" val="1370683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A47DA-0E17-4097-9FFE-03475985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First part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8B784E-D22E-4CA0-AED5-4F0C1625B3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3658" y="1690688"/>
                <a:ext cx="1098468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Without detailed calculation draw the wavefunction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𝑖𝑛𝑓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0" dirty="0"/>
                  <a:t> for the third lowest energy eigenstate of an infinite square well along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b="0" dirty="0"/>
                  <a:t> axis.       [3]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8B784E-D22E-4CA0-AED5-4F0C1625B3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658" y="1690688"/>
                <a:ext cx="10984684" cy="4351338"/>
              </a:xfrm>
              <a:blipFill>
                <a:blip r:embed="rId2"/>
                <a:stretch>
                  <a:fillRect l="-1110" t="-19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9ADCF73-09C2-4D75-ABEB-7BBF692F50A1}"/>
              </a:ext>
            </a:extLst>
          </p:cNvPr>
          <p:cNvSpPr txBox="1"/>
          <p:nvPr/>
        </p:nvSpPr>
        <p:spPr>
          <a:xfrm>
            <a:off x="838200" y="4099194"/>
            <a:ext cx="103527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We know that each state is labelled with an integer n, and that each one corresponds to the number of half-wavelengths that can fit in the well.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1D34010-A03D-414D-8AF1-331C6E3F584B}"/>
              </a:ext>
            </a:extLst>
          </p:cNvPr>
          <p:cNvGrpSpPr/>
          <p:nvPr/>
        </p:nvGrpSpPr>
        <p:grpSpPr>
          <a:xfrm>
            <a:off x="522215" y="4877152"/>
            <a:ext cx="10984684" cy="1782347"/>
            <a:chOff x="603658" y="4758539"/>
            <a:chExt cx="10984684" cy="17823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B103D97-80FD-4DB4-BC08-CF00E471E568}"/>
                    </a:ext>
                  </a:extLst>
                </p:cNvPr>
                <p:cNvSpPr txBox="1"/>
                <p:nvPr/>
              </p:nvSpPr>
              <p:spPr>
                <a:xfrm>
                  <a:off x="603658" y="4758539"/>
                  <a:ext cx="10984684" cy="178234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ℏ</m:t>
                                </m:r>
                              </m:e>
                              <m:sup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f>
                          <m:f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oMath>
                    </m:oMathPara>
                  </a14:m>
                  <a:endParaRPr lang="en-GB" sz="2400" dirty="0"/>
                </a:p>
                <a:p>
                  <a:endParaRPr lang="en-GB" sz="2400" i="1" dirty="0">
                    <a:latin typeface="Cambria Math" panose="02040503050406030204" pitchFamily="18" charset="0"/>
                  </a:endParaRPr>
                </a:p>
                <a:p>
                  <a14:m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</m:t>
                      </m:r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num>
                        <m:den>
                          <m:r>
                            <a:rPr lang="en-GB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𝑚𝐸</m:t>
                          </m:r>
                          <m:r>
                            <m:rPr>
                              <m:lit/>
                            </m:rP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en-GB" sz="2800" b="0" i="0" smtClean="0"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en-GB" sz="2400" dirty="0"/>
                    <a:t> : Harmonic solutions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B103D97-80FD-4DB4-BC08-CF00E471E5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658" y="4758539"/>
                  <a:ext cx="10984684" cy="1782347"/>
                </a:xfrm>
                <a:prstGeom prst="rect">
                  <a:avLst/>
                </a:prstGeom>
                <a:blipFill>
                  <a:blip r:embed="rId3"/>
                  <a:stretch>
                    <a:fillRect b="-411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67FC208-EEE8-4C4C-84DF-7EA283D82CE6}"/>
                </a:ext>
              </a:extLst>
            </p:cNvPr>
            <p:cNvSpPr txBox="1"/>
            <p:nvPr/>
          </p:nvSpPr>
          <p:spPr>
            <a:xfrm>
              <a:off x="1493240" y="4936479"/>
              <a:ext cx="30284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Basic TISE calculation: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04D923E-021F-4476-B3C3-F145D15451A5}"/>
                  </a:ext>
                </a:extLst>
              </p:cNvPr>
              <p:cNvSpPr txBox="1"/>
              <p:nvPr/>
            </p:nvSpPr>
            <p:spPr>
              <a:xfrm>
                <a:off x="838200" y="2702248"/>
                <a:ext cx="105156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b="0" dirty="0"/>
                  <a:t>As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→0,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→∞, ∴</m:t>
                    </m:r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→0.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04D923E-021F-4476-B3C3-F145D1545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02248"/>
                <a:ext cx="10515600" cy="400110"/>
              </a:xfrm>
              <a:prstGeom prst="rect">
                <a:avLst/>
              </a:prstGeom>
              <a:blipFill>
                <a:blip r:embed="rId4"/>
                <a:stretch>
                  <a:fillRect l="-522" t="-7576" b="-257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86D2DC5-C830-4450-BE24-BF715B37627F}"/>
              </a:ext>
            </a:extLst>
          </p:cNvPr>
          <p:cNvSpPr txBox="1"/>
          <p:nvPr/>
        </p:nvSpPr>
        <p:spPr>
          <a:xfrm>
            <a:off x="838200" y="3399573"/>
            <a:ext cx="1051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Odd or even symmetry with respect to the potential.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C7885E-C2CE-4015-8099-5B9EAA337F0F}"/>
              </a:ext>
            </a:extLst>
          </p:cNvPr>
          <p:cNvSpPr txBox="1"/>
          <p:nvPr/>
        </p:nvSpPr>
        <p:spPr>
          <a:xfrm>
            <a:off x="838200" y="4096898"/>
            <a:ext cx="10352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Each state labelled by an integer, number of half-wavelengths.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9D743A-CA10-4CB2-B298-A6416BB6A9E1}"/>
              </a:ext>
            </a:extLst>
          </p:cNvPr>
          <p:cNvSpPr/>
          <p:nvPr/>
        </p:nvSpPr>
        <p:spPr>
          <a:xfrm>
            <a:off x="7357145" y="6042026"/>
            <a:ext cx="2592198" cy="6174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750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6E32C25E-B869-459C-B1F8-224DD50B62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3658" y="1690688"/>
                <a:ext cx="1098468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Without detailed calculation draw the wavefunction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𝑖𝑛𝑓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0" dirty="0"/>
                  <a:t> for the third lowest energy eigenstate of an infinite square well along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b="0" dirty="0"/>
                  <a:t> axis.       [3]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6E32C25E-B869-459C-B1F8-224DD50B62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658" y="1690688"/>
                <a:ext cx="10984684" cy="4351338"/>
              </a:xfrm>
              <a:blipFill>
                <a:blip r:embed="rId2"/>
                <a:stretch>
                  <a:fillRect l="-1110" t="-19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C0822DE0-DAD5-4600-B2A0-2AB5EFD20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u="sng" dirty="0"/>
              <a:t>First part</a:t>
            </a:r>
          </a:p>
        </p:txBody>
      </p:sp>
      <p:pic>
        <p:nvPicPr>
          <p:cNvPr id="6" name="Picture 5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A27C6182-0ABB-43B5-A5DA-EB72D7E6035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33" t="22857" r="3469" b="21088"/>
          <a:stretch/>
        </p:blipFill>
        <p:spPr>
          <a:xfrm>
            <a:off x="603658" y="3378799"/>
            <a:ext cx="7959682" cy="308503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CF36B3-4314-4D75-8235-E11AF51C7E59}"/>
              </a:ext>
            </a:extLst>
          </p:cNvPr>
          <p:cNvCxnSpPr>
            <a:cxnSpLocks/>
          </p:cNvCxnSpPr>
          <p:nvPr/>
        </p:nvCxnSpPr>
        <p:spPr>
          <a:xfrm>
            <a:off x="4253218" y="3866357"/>
            <a:ext cx="67112" cy="2702223"/>
          </a:xfrm>
          <a:prstGeom prst="line">
            <a:avLst/>
          </a:prstGeom>
          <a:ln w="254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A99E667-F0C7-48EE-847F-8383C6B7371F}"/>
              </a:ext>
            </a:extLst>
          </p:cNvPr>
          <p:cNvSpPr txBox="1"/>
          <p:nvPr/>
        </p:nvSpPr>
        <p:spPr>
          <a:xfrm>
            <a:off x="2739004" y="2963300"/>
            <a:ext cx="3162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Symmetry axis of wavefunction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F2B78D-9C40-4D8D-999A-E4E089E05E44}"/>
                  </a:ext>
                </a:extLst>
              </p:cNvPr>
              <p:cNvSpPr txBox="1"/>
              <p:nvPr/>
            </p:nvSpPr>
            <p:spPr>
              <a:xfrm>
                <a:off x="6979640" y="3081527"/>
                <a:ext cx="4429388" cy="1938992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3</a:t>
                </a:r>
                <a:r>
                  <a:rPr lang="en-GB" sz="2400" baseline="30000" dirty="0"/>
                  <a:t>rd</a:t>
                </a:r>
                <a:r>
                  <a:rPr lang="en-GB" sz="2400" dirty="0"/>
                  <a:t> energy eigenfunction labelled with n=3, so 3 half-wavelengths of equal magnitude can fit in the well.</a:t>
                </a:r>
              </a:p>
              <a:p>
                <a:r>
                  <a:rPr lang="en-GB" sz="2400" dirty="0"/>
                  <a:t>Thus, it has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−1=3</m:t>
                    </m:r>
                  </m:oMath>
                </a14:m>
                <a:r>
                  <a:rPr lang="en-GB" sz="2400" dirty="0"/>
                  <a:t> nodes.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F2B78D-9C40-4D8D-999A-E4E089E05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640" y="3081527"/>
                <a:ext cx="4429388" cy="1938992"/>
              </a:xfrm>
              <a:prstGeom prst="rect">
                <a:avLst/>
              </a:prstGeom>
              <a:blipFill>
                <a:blip r:embed="rId4"/>
                <a:stretch>
                  <a:fillRect l="-1915" t="-1548" r="-2873" b="-5263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2925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EFCA97E6-6BA3-4666-8750-6442F6301B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3" t="38084" r="20254"/>
          <a:stretch/>
        </p:blipFill>
        <p:spPr>
          <a:xfrm>
            <a:off x="3758266" y="3792768"/>
            <a:ext cx="4085439" cy="30652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B3A52-FDBA-425A-95F6-735E48CE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Second part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E98920-B78C-4B03-AF15-D96502217D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A particle is confined in the 1D potential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400" dirty="0"/>
                  <a:t> shown below. Without detailed calculations, sketch the wave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400" dirty="0"/>
                  <a:t> of the third lowest energy eigenstate (with the </a:t>
                </a:r>
                <a:r>
                  <a:rPr lang="en-GB" sz="2400" dirty="0" err="1"/>
                  <a:t>enrgy</a:t>
                </a: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sz="2400" dirty="0"/>
                  <a:t> indicated by the dashed line). Mark the positions A, B, C on your sketch. Explain the qualitative features of the wave function in the various regions. You may find it useful to take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𝑖𝑛𝑓</m:t>
                        </m:r>
                      </m:sub>
                    </m:sSub>
                  </m:oMath>
                </a14:m>
                <a:r>
                  <a:rPr lang="en-GB" sz="2400" dirty="0"/>
                  <a:t> as a starting point of your considerations.        [5]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E98920-B78C-4B03-AF15-D96502217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1961" r="-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3702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EFCA97E6-6BA3-4666-8750-6442F6301B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3" t="38084" r="20254"/>
          <a:stretch/>
        </p:blipFill>
        <p:spPr>
          <a:xfrm>
            <a:off x="9513116" y="0"/>
            <a:ext cx="2678884" cy="20099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B3A52-FDBA-425A-95F6-735E48CE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Second part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401906-A902-4653-9EDA-AF4F8B9F4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4202"/>
            <a:ext cx="10515600" cy="795511"/>
          </a:xfrm>
        </p:spPr>
        <p:txBody>
          <a:bodyPr>
            <a:noAutofit/>
          </a:bodyPr>
          <a:lstStyle/>
          <a:p>
            <a:r>
              <a:rPr lang="en-GB" sz="2400" dirty="0"/>
              <a:t>The wavefunction must be a solution to the TISE, and takes the form of real or imaginary exponential functions, depending on the sign of E-V in the region.</a:t>
            </a:r>
          </a:p>
        </p:txBody>
      </p:sp>
    </p:spTree>
    <p:extLst>
      <p:ext uri="{BB962C8B-B14F-4D97-AF65-F5344CB8AC3E}">
        <p14:creationId xmlns:p14="http://schemas.microsoft.com/office/powerpoint/2010/main" val="2973970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EFCA97E6-6BA3-4666-8750-6442F6301B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3" t="38084" r="20254"/>
          <a:stretch/>
        </p:blipFill>
        <p:spPr>
          <a:xfrm>
            <a:off x="9513116" y="0"/>
            <a:ext cx="2678884" cy="20099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B3A52-FDBA-425A-95F6-735E48CE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Second part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401906-A902-4653-9EDA-AF4F8B9F4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4202"/>
            <a:ext cx="10515600" cy="795511"/>
          </a:xfrm>
        </p:spPr>
        <p:txBody>
          <a:bodyPr>
            <a:noAutofit/>
          </a:bodyPr>
          <a:lstStyle/>
          <a:p>
            <a:r>
              <a:rPr lang="en-GB" sz="2400" dirty="0"/>
              <a:t>The wavefunction must be a solution to the TISE, and takes the form of real or imaginary exponential functions, depending on the sign of E-V in the region.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94507A-7A7A-4C27-83F1-D567B42C353A}"/>
                  </a:ext>
                </a:extLst>
              </p:cNvPr>
              <p:cNvSpPr txBox="1"/>
              <p:nvPr/>
            </p:nvSpPr>
            <p:spPr>
              <a:xfrm>
                <a:off x="838200" y="2579433"/>
                <a:ext cx="105156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For E &lt; V, the wavefunction follows an exponential increase or decay. To remain physical at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=±∞</m:t>
                    </m:r>
                    <m:r>
                      <a:rPr lang="en-GB" sz="240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GB" sz="240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GB" sz="2400" dirty="0"/>
                  <a:t>, otherwise the solution will blow up and become unphysical.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94507A-7A7A-4C27-83F1-D567B42C3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79433"/>
                <a:ext cx="10515600" cy="1477328"/>
              </a:xfrm>
              <a:prstGeom prst="rect">
                <a:avLst/>
              </a:prstGeom>
              <a:blipFill>
                <a:blip r:embed="rId3"/>
                <a:stretch>
                  <a:fillRect l="-812" t="-33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474927FA-CFC4-49B9-A2DB-601AFA9F418B}"/>
              </a:ext>
            </a:extLst>
          </p:cNvPr>
          <p:cNvSpPr txBox="1">
            <a:spLocks/>
          </p:cNvSpPr>
          <p:nvPr/>
        </p:nvSpPr>
        <p:spPr>
          <a:xfrm>
            <a:off x="838200" y="1824201"/>
            <a:ext cx="10515600" cy="7955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/>
              <a:t>Wavefunction is harmonic or exponential depending on sign of E-V.</a:t>
            </a:r>
          </a:p>
        </p:txBody>
      </p:sp>
    </p:spTree>
    <p:extLst>
      <p:ext uri="{BB962C8B-B14F-4D97-AF65-F5344CB8AC3E}">
        <p14:creationId xmlns:p14="http://schemas.microsoft.com/office/powerpoint/2010/main" val="172184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EFCA97E6-6BA3-4666-8750-6442F6301B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3" t="38084" r="20254"/>
          <a:stretch/>
        </p:blipFill>
        <p:spPr>
          <a:xfrm>
            <a:off x="9513116" y="0"/>
            <a:ext cx="2678884" cy="20099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B3A52-FDBA-425A-95F6-735E48CE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Second part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94507A-7A7A-4C27-83F1-D567B42C353A}"/>
                  </a:ext>
                </a:extLst>
              </p:cNvPr>
              <p:cNvSpPr txBox="1"/>
              <p:nvPr/>
            </p:nvSpPr>
            <p:spPr>
              <a:xfrm>
                <a:off x="838200" y="2579433"/>
                <a:ext cx="105156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For E &lt; V, the wavefunction follows an exponential increase or decay. To remain physical at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=±∞</m:t>
                    </m:r>
                    <m:r>
                      <a:rPr lang="en-GB" sz="240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GB" sz="240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GB" sz="2400" dirty="0"/>
                  <a:t>, otherwise the solution will blow up and become unphysical.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94507A-7A7A-4C27-83F1-D567B42C3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79433"/>
                <a:ext cx="10515600" cy="1477328"/>
              </a:xfrm>
              <a:prstGeom prst="rect">
                <a:avLst/>
              </a:prstGeom>
              <a:blipFill>
                <a:blip r:embed="rId3"/>
                <a:stretch>
                  <a:fillRect l="-812" t="-33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DF92DD19-18B8-474C-9F6A-2D83408ABF01}"/>
              </a:ext>
            </a:extLst>
          </p:cNvPr>
          <p:cNvSpPr txBox="1">
            <a:spLocks/>
          </p:cNvSpPr>
          <p:nvPr/>
        </p:nvSpPr>
        <p:spPr>
          <a:xfrm>
            <a:off x="838200" y="1825123"/>
            <a:ext cx="10515600" cy="7955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/>
              <a:t>Wavefunction is harmonic or exponential depending on sign of E-V.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E13575-5E85-43F1-8278-97ACA5443662}"/>
                  </a:ext>
                </a:extLst>
              </p:cNvPr>
              <p:cNvSpPr txBox="1"/>
              <p:nvPr/>
            </p:nvSpPr>
            <p:spPr>
              <a:xfrm>
                <a:off x="838200" y="2348600"/>
                <a:ext cx="47733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→±∞, 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E13575-5E85-43F1-8278-97ACA5443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48600"/>
                <a:ext cx="4773336" cy="461665"/>
              </a:xfrm>
              <a:prstGeom prst="rect">
                <a:avLst/>
              </a:prstGeom>
              <a:blipFill>
                <a:blip r:embed="rId4"/>
                <a:stretch>
                  <a:fillRect l="-1788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E095A086-9013-4B25-9F70-198B79C7ED56}"/>
              </a:ext>
            </a:extLst>
          </p:cNvPr>
          <p:cNvGrpSpPr/>
          <p:nvPr/>
        </p:nvGrpSpPr>
        <p:grpSpPr>
          <a:xfrm>
            <a:off x="838200" y="2957950"/>
            <a:ext cx="10515600" cy="2197622"/>
            <a:chOff x="838200" y="3041098"/>
            <a:chExt cx="10515600" cy="21976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9A1824C-22A6-4329-94D6-328846F3856D}"/>
                    </a:ext>
                  </a:extLst>
                </p:cNvPr>
                <p:cNvSpPr txBox="1"/>
                <p:nvPr/>
              </p:nvSpPr>
              <p:spPr>
                <a:xfrm>
                  <a:off x="838200" y="3041098"/>
                  <a:ext cx="10515600" cy="1477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GB" sz="2400" dirty="0"/>
                    <a:t>In the exponentially decaying sections, an effective skin depth for the wavefunction goes as 1/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GB" sz="24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r>
                    <a:rPr lang="en-GB" sz="2400" dirty="0"/>
                    <a:t> Thus for larger energy deficits, the particle’s wavefunction decays faster.</a:t>
                  </a:r>
                </a:p>
                <a:p>
                  <a:endParaRPr lang="en-GB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9A1824C-22A6-4329-94D6-328846F385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3041098"/>
                  <a:ext cx="10515600" cy="1477328"/>
                </a:xfrm>
                <a:prstGeom prst="rect">
                  <a:avLst/>
                </a:prstGeom>
                <a:blipFill>
                  <a:blip r:embed="rId5"/>
                  <a:stretch>
                    <a:fillRect l="-812" t="-3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890614E-885E-4474-B610-AB809BAB0FC8}"/>
                    </a:ext>
                  </a:extLst>
                </p:cNvPr>
                <p:cNvSpPr txBox="1"/>
                <p:nvPr/>
              </p:nvSpPr>
              <p:spPr>
                <a:xfrm>
                  <a:off x="4186106" y="4383421"/>
                  <a:ext cx="2355132" cy="8552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∝</m:t>
                        </m:r>
                        <m:f>
                          <m:f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den>
                        </m:f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∝</m:t>
                        </m:r>
                        <m:f>
                          <m:f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890614E-885E-4474-B610-AB809BAB0F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6106" y="4383421"/>
                  <a:ext cx="2355132" cy="8552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25379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EFCA97E6-6BA3-4666-8750-6442F6301B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3" t="38084" r="20254"/>
          <a:stretch/>
        </p:blipFill>
        <p:spPr>
          <a:xfrm>
            <a:off x="9513116" y="0"/>
            <a:ext cx="2678884" cy="20099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B3A52-FDBA-425A-95F6-735E48CE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Second part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93853901-C64B-4E26-9E8B-1F02CE1F666A}"/>
              </a:ext>
            </a:extLst>
          </p:cNvPr>
          <p:cNvSpPr txBox="1">
            <a:spLocks/>
          </p:cNvSpPr>
          <p:nvPr/>
        </p:nvSpPr>
        <p:spPr>
          <a:xfrm>
            <a:off x="838200" y="1825123"/>
            <a:ext cx="10515600" cy="7955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/>
              <a:t>Wavefunction is harmonic or exponential depending on sign of E-V.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F4E104-8B44-4FEF-8CFD-BE13A9333533}"/>
                  </a:ext>
                </a:extLst>
              </p:cNvPr>
              <p:cNvSpPr txBox="1"/>
              <p:nvPr/>
            </p:nvSpPr>
            <p:spPr>
              <a:xfrm>
                <a:off x="838200" y="2348600"/>
                <a:ext cx="47733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→±∞, 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F4E104-8B44-4FEF-8CFD-BE13A9333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48600"/>
                <a:ext cx="4773336" cy="461665"/>
              </a:xfrm>
              <a:prstGeom prst="rect">
                <a:avLst/>
              </a:prstGeom>
              <a:blipFill>
                <a:blip r:embed="rId5"/>
                <a:stretch>
                  <a:fillRect l="-1788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3CAAAB2B-BAAD-49F4-84C9-C87A316AA351}"/>
              </a:ext>
            </a:extLst>
          </p:cNvPr>
          <p:cNvGrpSpPr/>
          <p:nvPr/>
        </p:nvGrpSpPr>
        <p:grpSpPr>
          <a:xfrm>
            <a:off x="838200" y="2957950"/>
            <a:ext cx="10515600" cy="2197622"/>
            <a:chOff x="838200" y="3041098"/>
            <a:chExt cx="10515600" cy="21976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6272519-6F1F-4AEA-99BD-74F23C785C03}"/>
                    </a:ext>
                  </a:extLst>
                </p:cNvPr>
                <p:cNvSpPr txBox="1"/>
                <p:nvPr/>
              </p:nvSpPr>
              <p:spPr>
                <a:xfrm>
                  <a:off x="838200" y="3041098"/>
                  <a:ext cx="10515600" cy="1477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GB" sz="2400" dirty="0"/>
                    <a:t>In the exponentially decaying sections, an effective skin depth for the wavefunction goes as 1/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GB" sz="24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r>
                    <a:rPr lang="en-GB" sz="2400" dirty="0"/>
                    <a:t> Thus for larger energy deficits, the particle’s wavefunction decays faster.</a:t>
                  </a:r>
                </a:p>
                <a:p>
                  <a:endParaRPr lang="en-GB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6272519-6F1F-4AEA-99BD-74F23C785C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3041098"/>
                  <a:ext cx="10515600" cy="1477328"/>
                </a:xfrm>
                <a:prstGeom prst="rect">
                  <a:avLst/>
                </a:prstGeom>
                <a:blipFill>
                  <a:blip r:embed="rId6"/>
                  <a:stretch>
                    <a:fillRect l="-812" t="-3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DC87EF9-CFD3-4F70-A9DC-358521BB2C0A}"/>
                    </a:ext>
                  </a:extLst>
                </p:cNvPr>
                <p:cNvSpPr txBox="1"/>
                <p:nvPr/>
              </p:nvSpPr>
              <p:spPr>
                <a:xfrm>
                  <a:off x="4186106" y="4383421"/>
                  <a:ext cx="2355132" cy="8552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∝</m:t>
                        </m:r>
                        <m:f>
                          <m:f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den>
                        </m:f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∝</m:t>
                        </m:r>
                        <m:f>
                          <m:f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DC87EF9-CFD3-4F70-A9DC-358521BB2C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6106" y="4383421"/>
                  <a:ext cx="2355132" cy="8552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B4DE44A-51AE-4B30-8A48-78378EB26AE3}"/>
                  </a:ext>
                </a:extLst>
              </p:cNvPr>
              <p:cNvSpPr txBox="1"/>
              <p:nvPr/>
            </p:nvSpPr>
            <p:spPr>
              <a:xfrm>
                <a:off x="838200" y="2884128"/>
                <a:ext cx="5529044" cy="637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In exponential regime,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rad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B4DE44A-51AE-4B30-8A48-78378EB26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84128"/>
                <a:ext cx="5529044" cy="637354"/>
              </a:xfrm>
              <a:prstGeom prst="rect">
                <a:avLst/>
              </a:prstGeom>
              <a:blipFill>
                <a:blip r:embed="rId8"/>
                <a:stretch>
                  <a:fillRect l="-1545" b="-5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2ADE9052-094A-4BAF-90ED-D9F54B6D14BA}"/>
              </a:ext>
            </a:extLst>
          </p:cNvPr>
          <p:cNvGrpSpPr/>
          <p:nvPr/>
        </p:nvGrpSpPr>
        <p:grpSpPr>
          <a:xfrm>
            <a:off x="838200" y="3589056"/>
            <a:ext cx="10515600" cy="1946504"/>
            <a:chOff x="838200" y="3589056"/>
            <a:chExt cx="10515600" cy="194650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13D5EF-140B-411C-ABF3-069B2774C2C3}"/>
                </a:ext>
              </a:extLst>
            </p:cNvPr>
            <p:cNvSpPr txBox="1"/>
            <p:nvPr/>
          </p:nvSpPr>
          <p:spPr>
            <a:xfrm>
              <a:off x="838200" y="3589056"/>
              <a:ext cx="1051560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2400" dirty="0"/>
                <a:t>For E &gt; V, the wavefunction takes the form of monochromatic harmonic functions (within a region). A greater difference in energy between the particle and the potential will result in a shorter wavelength.</a:t>
              </a:r>
            </a:p>
            <a:p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B83C393-06D1-48A6-B262-DAE0ACEDE6EA}"/>
                    </a:ext>
                  </a:extLst>
                </p:cNvPr>
                <p:cNvSpPr txBox="1"/>
                <p:nvPr/>
              </p:nvSpPr>
              <p:spPr>
                <a:xfrm>
                  <a:off x="4283055" y="4772594"/>
                  <a:ext cx="2161233" cy="7629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∝</m:t>
                        </m:r>
                        <m:f>
                          <m:f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∝</m:t>
                        </m:r>
                        <m:f>
                          <m:f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B83C393-06D1-48A6-B262-DAE0ACEDE6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3055" y="4772594"/>
                  <a:ext cx="2161233" cy="76296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98532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EFCA97E6-6BA3-4666-8750-6442F6301B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3" t="38084" r="20254"/>
          <a:stretch/>
        </p:blipFill>
        <p:spPr>
          <a:xfrm>
            <a:off x="9513116" y="0"/>
            <a:ext cx="2678884" cy="20099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B3A52-FDBA-425A-95F6-735E48CE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Second part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93853901-C64B-4E26-9E8B-1F02CE1F666A}"/>
              </a:ext>
            </a:extLst>
          </p:cNvPr>
          <p:cNvSpPr txBox="1">
            <a:spLocks/>
          </p:cNvSpPr>
          <p:nvPr/>
        </p:nvSpPr>
        <p:spPr>
          <a:xfrm>
            <a:off x="838200" y="1825123"/>
            <a:ext cx="10515600" cy="7955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/>
              <a:t>Wavefunction is harmonic or exponential depending on sign of E-V.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F4E104-8B44-4FEF-8CFD-BE13A9333533}"/>
                  </a:ext>
                </a:extLst>
              </p:cNvPr>
              <p:cNvSpPr txBox="1"/>
              <p:nvPr/>
            </p:nvSpPr>
            <p:spPr>
              <a:xfrm>
                <a:off x="838200" y="2348600"/>
                <a:ext cx="47733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→±∞, 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F4E104-8B44-4FEF-8CFD-BE13A9333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48600"/>
                <a:ext cx="4773336" cy="461665"/>
              </a:xfrm>
              <a:prstGeom prst="rect">
                <a:avLst/>
              </a:prstGeom>
              <a:blipFill>
                <a:blip r:embed="rId3"/>
                <a:stretch>
                  <a:fillRect l="-1788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CDBB3B0-A552-4415-9536-A06926DAE393}"/>
                  </a:ext>
                </a:extLst>
              </p:cNvPr>
              <p:cNvSpPr txBox="1"/>
              <p:nvPr/>
            </p:nvSpPr>
            <p:spPr>
              <a:xfrm>
                <a:off x="838200" y="2884128"/>
                <a:ext cx="5529044" cy="637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In exponential regime,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rad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CDBB3B0-A552-4415-9536-A06926DAE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84128"/>
                <a:ext cx="5529044" cy="637354"/>
              </a:xfrm>
              <a:prstGeom prst="rect">
                <a:avLst/>
              </a:prstGeom>
              <a:blipFill>
                <a:blip r:embed="rId4"/>
                <a:stretch>
                  <a:fillRect l="-1545" b="-5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DDE96A0-81F3-4A85-AD66-AAF07A1DF121}"/>
                  </a:ext>
                </a:extLst>
              </p:cNvPr>
              <p:cNvSpPr txBox="1"/>
              <p:nvPr/>
            </p:nvSpPr>
            <p:spPr>
              <a:xfrm>
                <a:off x="838200" y="3508439"/>
                <a:ext cx="10515600" cy="914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In harmonic regime,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rad>
                      </m:den>
                    </m:f>
                  </m:oMath>
                </a14:m>
                <a:endParaRPr lang="en-GB" sz="24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DDE96A0-81F3-4A85-AD66-AAF07A1DF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08439"/>
                <a:ext cx="10515600" cy="914353"/>
              </a:xfrm>
              <a:prstGeom prst="rect">
                <a:avLst/>
              </a:prstGeom>
              <a:blipFill>
                <a:blip r:embed="rId5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C2DF6967-493E-4CF4-BDB3-8A6BB1C23032}"/>
              </a:ext>
            </a:extLst>
          </p:cNvPr>
          <p:cNvGrpSpPr/>
          <p:nvPr/>
        </p:nvGrpSpPr>
        <p:grpSpPr>
          <a:xfrm>
            <a:off x="838200" y="3589056"/>
            <a:ext cx="10515600" cy="1946504"/>
            <a:chOff x="838200" y="3589056"/>
            <a:chExt cx="10515600" cy="194650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8AE7DE5-64D8-437C-AE24-2191C377F0BF}"/>
                </a:ext>
              </a:extLst>
            </p:cNvPr>
            <p:cNvSpPr txBox="1"/>
            <p:nvPr/>
          </p:nvSpPr>
          <p:spPr>
            <a:xfrm>
              <a:off x="838200" y="3589056"/>
              <a:ext cx="1051560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2400" dirty="0"/>
                <a:t>For E &gt; V, the wavefunction takes the form of monochromatic harmonic functions (within a region). A greater difference in energy between the particle and the potential will result in a shorter wavelength.</a:t>
              </a:r>
            </a:p>
            <a:p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9EA19E0-8406-4593-9483-D69D0E5A096A}"/>
                    </a:ext>
                  </a:extLst>
                </p:cNvPr>
                <p:cNvSpPr txBox="1"/>
                <p:nvPr/>
              </p:nvSpPr>
              <p:spPr>
                <a:xfrm>
                  <a:off x="4283055" y="4772594"/>
                  <a:ext cx="2161233" cy="7629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∝</m:t>
                        </m:r>
                        <m:f>
                          <m:f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∝</m:t>
                        </m:r>
                        <m:f>
                          <m:f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9EA19E0-8406-4593-9483-D69D0E5A0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3055" y="4772594"/>
                  <a:ext cx="2161233" cy="76296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BCCEEF5-AB8F-4401-BA2F-55051A74E8AC}"/>
                  </a:ext>
                </a:extLst>
              </p:cNvPr>
              <p:cNvSpPr txBox="1"/>
              <p:nvPr/>
            </p:nvSpPr>
            <p:spPr>
              <a:xfrm>
                <a:off x="838200" y="4409287"/>
                <a:ext cx="1010943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GB" sz="2400" dirty="0"/>
                  <a:t> must remain continuous at all points in space.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GB" sz="2400" dirty="0"/>
                  <a:t> must remain continuous at all points in space.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BCCEEF5-AB8F-4401-BA2F-55051A74E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09287"/>
                <a:ext cx="10109433" cy="830997"/>
              </a:xfrm>
              <a:prstGeom prst="rect">
                <a:avLst/>
              </a:prstGeom>
              <a:blipFill>
                <a:blip r:embed="rId7"/>
                <a:stretch>
                  <a:fillRect l="-844" t="-5839" b="-153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499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D451BB0C-926C-4C25-BA08-52EDAE5C91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3" t="38084" r="20254"/>
          <a:stretch/>
        </p:blipFill>
        <p:spPr>
          <a:xfrm>
            <a:off x="9513116" y="0"/>
            <a:ext cx="2678884" cy="200991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9332D1F-4347-4BEB-B215-2EC2837D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u="sng" dirty="0"/>
              <a:t>Second part</a:t>
            </a:r>
          </a:p>
        </p:txBody>
      </p:sp>
      <p:pic>
        <p:nvPicPr>
          <p:cNvPr id="7" name="Picture 6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4546D364-71D0-492D-86D9-A53CF757DC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08" b="21361"/>
          <a:stretch/>
        </p:blipFill>
        <p:spPr>
          <a:xfrm>
            <a:off x="2655116" y="3109699"/>
            <a:ext cx="6858000" cy="33831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3090B1-E343-4E93-8166-A56C7B4525A5}"/>
                  </a:ext>
                </a:extLst>
              </p:cNvPr>
              <p:cNvSpPr txBox="1"/>
              <p:nvPr/>
            </p:nvSpPr>
            <p:spPr>
              <a:xfrm>
                <a:off x="464461" y="2169361"/>
                <a:ext cx="3704412" cy="46166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Exponential decay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∵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3090B1-E343-4E93-8166-A56C7B452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61" y="2169361"/>
                <a:ext cx="3704412" cy="461665"/>
              </a:xfrm>
              <a:prstGeom prst="rect">
                <a:avLst/>
              </a:prstGeom>
              <a:blipFill>
                <a:blip r:embed="rId4"/>
                <a:stretch>
                  <a:fillRect l="-2467" t="-10526" b="-28947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7863A5-F6C1-4B4C-9C96-481F7886C53B}"/>
                  </a:ext>
                </a:extLst>
              </p:cNvPr>
              <p:cNvSpPr txBox="1"/>
              <p:nvPr/>
            </p:nvSpPr>
            <p:spPr>
              <a:xfrm>
                <a:off x="7892812" y="2324869"/>
                <a:ext cx="3704412" cy="1569660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Exponential decay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∵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GB" sz="2400" b="0" dirty="0"/>
              </a:p>
              <a:p>
                <a:r>
                  <a:rPr lang="en-GB" sz="2400" dirty="0"/>
                  <a:t>Decay occurs faster than on other side due to larger difference in energies.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7863A5-F6C1-4B4C-9C96-481F7886C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812" y="2324869"/>
                <a:ext cx="3704412" cy="1569660"/>
              </a:xfrm>
              <a:prstGeom prst="rect">
                <a:avLst/>
              </a:prstGeom>
              <a:blipFill>
                <a:blip r:embed="rId5"/>
                <a:stretch>
                  <a:fillRect l="-2291" t="-2290" r="-1146" b="-6870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3F17C1-8493-46D6-85FD-A4C5ACE5DB9E}"/>
              </a:ext>
            </a:extLst>
          </p:cNvPr>
          <p:cNvCxnSpPr/>
          <p:nvPr/>
        </p:nvCxnSpPr>
        <p:spPr>
          <a:xfrm flipH="1">
            <a:off x="8279934" y="3894529"/>
            <a:ext cx="771787" cy="9794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787589-AF4D-4E42-9E05-6DC3A668AE9D}"/>
              </a:ext>
            </a:extLst>
          </p:cNvPr>
          <p:cNvCxnSpPr/>
          <p:nvPr/>
        </p:nvCxnSpPr>
        <p:spPr>
          <a:xfrm>
            <a:off x="2852257" y="2631026"/>
            <a:ext cx="645952" cy="17421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5575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D451BB0C-926C-4C25-BA08-52EDAE5C91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3" t="38084" r="20254"/>
          <a:stretch/>
        </p:blipFill>
        <p:spPr>
          <a:xfrm>
            <a:off x="9513116" y="0"/>
            <a:ext cx="2678884" cy="200991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9332D1F-4347-4BEB-B215-2EC2837D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u="sng" dirty="0"/>
              <a:t>Second part</a:t>
            </a:r>
          </a:p>
        </p:txBody>
      </p:sp>
      <p:pic>
        <p:nvPicPr>
          <p:cNvPr id="7" name="Picture 6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4546D364-71D0-492D-86D9-A53CF757DC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08" b="21361"/>
          <a:stretch/>
        </p:blipFill>
        <p:spPr>
          <a:xfrm>
            <a:off x="2655116" y="3109699"/>
            <a:ext cx="6858000" cy="33831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B9B62DD-0E17-448E-9501-1CE6730C8E13}"/>
                  </a:ext>
                </a:extLst>
              </p:cNvPr>
              <p:cNvSpPr txBox="1"/>
              <p:nvPr/>
            </p:nvSpPr>
            <p:spPr>
              <a:xfrm>
                <a:off x="1426129" y="2098144"/>
                <a:ext cx="42364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Harmonic oscillations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∵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B9B62DD-0E17-448E-9501-1CE6730C8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6129" y="2098144"/>
                <a:ext cx="4236440" cy="461665"/>
              </a:xfrm>
              <a:prstGeom prst="rect">
                <a:avLst/>
              </a:prstGeom>
              <a:blipFill>
                <a:blip r:embed="rId4"/>
                <a:stretch>
                  <a:fillRect l="-2302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7C54344-3BD3-4BC4-812D-CA8EDEE0BA24}"/>
              </a:ext>
            </a:extLst>
          </p:cNvPr>
          <p:cNvSpPr txBox="1"/>
          <p:nvPr/>
        </p:nvSpPr>
        <p:spPr>
          <a:xfrm>
            <a:off x="7057268" y="2094467"/>
            <a:ext cx="4236440" cy="120032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Shorter wavelength than in the other region because the energy difference is greater.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63D839B-8D57-472A-B126-5E01AA49AEEC}"/>
              </a:ext>
            </a:extLst>
          </p:cNvPr>
          <p:cNvCxnSpPr>
            <a:stCxn id="10" idx="1"/>
          </p:cNvCxnSpPr>
          <p:nvPr/>
        </p:nvCxnSpPr>
        <p:spPr>
          <a:xfrm flipH="1">
            <a:off x="6753138" y="2694632"/>
            <a:ext cx="304130" cy="8874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A7CA29-F7B8-411A-8BED-41637E57E211}"/>
              </a:ext>
            </a:extLst>
          </p:cNvPr>
          <p:cNvCxnSpPr/>
          <p:nvPr/>
        </p:nvCxnSpPr>
        <p:spPr>
          <a:xfrm>
            <a:off x="4949505" y="2559809"/>
            <a:ext cx="109056" cy="10033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802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close up of a map&#10;&#10;Description automatically generated">
            <a:extLst>
              <a:ext uri="{FF2B5EF4-FFF2-40B4-BE49-F238E27FC236}">
                <a16:creationId xmlns:a16="http://schemas.microsoft.com/office/drawing/2014/main" id="{66586B14-BAEB-4F0E-9674-46041CC9DA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4" t="22715" r="5532" b="20150"/>
          <a:stretch/>
        </p:blipFill>
        <p:spPr>
          <a:xfrm>
            <a:off x="2925397" y="2409800"/>
            <a:ext cx="6341206" cy="4083075"/>
          </a:xfrm>
        </p:spPr>
      </p:pic>
      <p:pic>
        <p:nvPicPr>
          <p:cNvPr id="4" name="Content Placeholder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D451BB0C-926C-4C25-BA08-52EDAE5C91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3" t="38084" r="20254"/>
          <a:stretch/>
        </p:blipFill>
        <p:spPr>
          <a:xfrm>
            <a:off x="9513116" y="0"/>
            <a:ext cx="2678884" cy="200991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9332D1F-4347-4BEB-B215-2EC2837D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u="sng" dirty="0"/>
              <a:t>Second part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EFA3DC-B004-4739-9707-045301F2386C}"/>
                  </a:ext>
                </a:extLst>
              </p:cNvPr>
              <p:cNvSpPr txBox="1"/>
              <p:nvPr/>
            </p:nvSpPr>
            <p:spPr>
              <a:xfrm>
                <a:off x="696286" y="1867306"/>
                <a:ext cx="3674378" cy="1229952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Simillar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𝑖𝑛𝑓</m:t>
                        </m:r>
                      </m:sub>
                    </m:sSub>
                  </m:oMath>
                </a14:m>
                <a:r>
                  <a:rPr lang="en-GB" sz="2400" dirty="0"/>
                  <a:t>, being the 3</a:t>
                </a:r>
                <a:r>
                  <a:rPr lang="en-GB" sz="2400" baseline="30000" dirty="0"/>
                  <a:t>rd</a:t>
                </a:r>
                <a:r>
                  <a:rPr lang="en-GB" sz="2400" dirty="0"/>
                  <a:t> energy eigenstate, the wavefunction has 2 nodes.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EFA3DC-B004-4739-9707-045301F23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86" y="1867306"/>
                <a:ext cx="3674378" cy="1229952"/>
              </a:xfrm>
              <a:prstGeom prst="rect">
                <a:avLst/>
              </a:prstGeom>
              <a:blipFill>
                <a:blip r:embed="rId4"/>
                <a:stretch>
                  <a:fillRect l="-2142" t="-2427" b="-9223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775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1054</Words>
  <Application>Microsoft Office PowerPoint</Application>
  <PresentationFormat>Widescreen</PresentationFormat>
  <Paragraphs>84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Office Theme</vt:lpstr>
      <vt:lpstr>A3 2015</vt:lpstr>
      <vt:lpstr>PowerPoint Presentation</vt:lpstr>
      <vt:lpstr>First part</vt:lpstr>
      <vt:lpstr>First part</vt:lpstr>
      <vt:lpstr>First part</vt:lpstr>
      <vt:lpstr>First part</vt:lpstr>
      <vt:lpstr>First part</vt:lpstr>
      <vt:lpstr>First part</vt:lpstr>
      <vt:lpstr>Second part</vt:lpstr>
      <vt:lpstr>Second part</vt:lpstr>
      <vt:lpstr>Second part</vt:lpstr>
      <vt:lpstr>Second part</vt:lpstr>
      <vt:lpstr>Second part</vt:lpstr>
      <vt:lpstr>Second part</vt:lpstr>
      <vt:lpstr>Second part</vt:lpstr>
      <vt:lpstr>Second part</vt:lpstr>
      <vt:lpstr>Second part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A3 2015</dc:title>
  <dc:creator>Andrew Martin</dc:creator>
  <cp:lastModifiedBy>Andrew Martin</cp:lastModifiedBy>
  <cp:revision>23</cp:revision>
  <dcterms:created xsi:type="dcterms:W3CDTF">2020-05-12T19:34:50Z</dcterms:created>
  <dcterms:modified xsi:type="dcterms:W3CDTF">2020-05-13T14:48:36Z</dcterms:modified>
</cp:coreProperties>
</file>